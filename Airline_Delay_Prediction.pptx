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75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2578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365760"/>
            <a:ext cx="1645920" cy="164592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2286000"/>
            <a:ext cx="1097280" cy="1097280"/>
          </a:xfrm>
          <a:prstGeom prst="ellipse">
            <a:avLst/>
          </a:prstGeom>
          <a:solidFill>
            <a:srgbClr val="FFB703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3474720"/>
            <a:ext cx="822960" cy="82296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0B4D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✈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DELAY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228600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Apache PySpark MLlib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572000" cy="1554480"/>
          </a:xfrm>
          <a:prstGeom prst="rect">
            <a:avLst/>
          </a:prstGeom>
          <a:solidFill>
            <a:srgbClr val="0B1F4B">
              <a:alpha val="7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29184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Kumar Jha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15  |  Reg: 12220971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INT-315  |  Submitted To: Mr. Amanpal Singh Rayat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1371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
</a:t>
            </a:r>
            <a:r>
              <a:rPr lang="en-US" sz="14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Portfolio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77840" y="4389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 About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120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91440" cy="2377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41732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end-to-end machine learning pipeline to predict airline arrival delays using Apache PySpark MLlib. It processes large-scale aviation data including weather, route, and schedule features to train a Linear Regression model with ElasticNet regularization. The system is evaluated using RMSE, MAE, and R² metrics, and includes diagnostic visualizations for clear interpretation.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1280160"/>
            <a:ext cx="3017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1280160"/>
            <a:ext cx="73152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131673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0" y="131673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103120"/>
            <a:ext cx="3017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2103120"/>
            <a:ext cx="73152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213969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213969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2926080"/>
            <a:ext cx="3017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2926080"/>
            <a:ext cx="73152" cy="71323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296265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32320" y="296265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8412480" cy="640080"/>
          </a:xfrm>
          <a:prstGeom prst="rect">
            <a:avLst/>
          </a:prstGeom>
          <a:solidFill>
            <a:srgbClr val="0B1F4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87705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Predicting delays · Saving time · Powering smarter aviation decisions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5070348"/>
            <a:ext cx="32004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4023360"/>
            <a:ext cx="73152" cy="11201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B1F4B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4114800" cy="2743200"/>
          </a:xfrm>
          <a:prstGeom prst="rect">
            <a:avLst/>
          </a:prstGeom>
          <a:solidFill>
            <a:srgbClr val="0B1F4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Flight delays cost $28B+ annually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Millions of passengers disrupted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Complex, multi-factor causes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Massive datasets hard to process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Need real-time scalable prediction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114800" cy="457200"/>
          </a:xfrm>
          <a:prstGeom prst="rect">
            <a:avLst/>
          </a:prstGeom>
          <a:solidFill>
            <a:srgbClr val="0B1F4B">
              <a:alpha val="8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18872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30368" y="11612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0368" y="13624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distributed ML using PySpark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673352"/>
            <a:ext cx="4114800" cy="457200"/>
          </a:xfrm>
          <a:prstGeom prst="rect">
            <a:avLst/>
          </a:prstGeom>
          <a:solidFill>
            <a:srgbClr val="0B1F4B">
              <a:alpha val="8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1719072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30368" y="169164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0368" y="18928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impute missing values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203704"/>
            <a:ext cx="4114800" cy="457200"/>
          </a:xfrm>
          <a:prstGeom prst="rect">
            <a:avLst/>
          </a:prstGeom>
          <a:solidFill>
            <a:srgbClr val="0B1F4B">
              <a:alpha val="8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2249424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0368" y="22219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0368" y="2423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hour, weather score, seasonal flags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734056"/>
            <a:ext cx="4114800" cy="457200"/>
          </a:xfrm>
          <a:prstGeom prst="rect">
            <a:avLst/>
          </a:prstGeom>
          <a:solidFill>
            <a:srgbClr val="0B1F4B">
              <a:alpha val="8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2779776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2779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30368" y="27523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0368" y="29535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+ ElasticNet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264408"/>
            <a:ext cx="4114800" cy="457200"/>
          </a:xfrm>
          <a:prstGeom prst="rect">
            <a:avLst/>
          </a:prstGeom>
          <a:solidFill>
            <a:srgbClr val="0B1F4B">
              <a:alpha val="8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33101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0368" y="32826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0368" y="34838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MAE, R² metrics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Airline On-Time Performance Data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2011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201168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344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Flight Info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18288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(AA, DL, UA, WN…)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&amp; Destination Airport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(miles)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96312" y="132588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325880"/>
            <a:ext cx="2011680" cy="38404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Text 12"/>
          <p:cNvSpPr/>
          <p:nvPr/>
        </p:nvSpPr>
        <p:spPr>
          <a:xfrm>
            <a:off x="2587752" y="1344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 Weather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87752" y="1783080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(mph)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(miles)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(in/hr)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(°F)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2584" y="1325880"/>
            <a:ext cx="2011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1325880"/>
            <a:ext cx="2011680" cy="384048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764024" y="1344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Temporal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1783080"/>
            <a:ext cx="18288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(1–12)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(1–7)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Hour (0–23)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48856" y="1325880"/>
            <a:ext cx="2011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325880"/>
            <a:ext cx="2011680" cy="38404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2" name="Text 20"/>
          <p:cNvSpPr/>
          <p:nvPr/>
        </p:nvSpPr>
        <p:spPr>
          <a:xfrm>
            <a:off x="6940296" y="1344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0296" y="1783080"/>
            <a:ext cx="18288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Delay (minutes)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Variable to predict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-60 to +600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572000"/>
            <a:ext cx="850392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synthetic records  |  13 raw columns  |  ~3% missing values handled via median imputation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5070348"/>
            <a:ext cx="32004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4023360"/>
            <a:ext cx="73152" cy="11201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B1F4B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Preparing the Dataset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1920240" cy="2560320"/>
          </a:xfrm>
          <a:prstGeom prst="rect">
            <a:avLst/>
          </a:prstGeom>
          <a:solidFill>
            <a:srgbClr val="0B1F4B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1280160"/>
            <a:ext cx="548640" cy="5486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23591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Targets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8529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where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arr_delay is null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50008" y="23317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606040" y="1188720"/>
            <a:ext cx="1920240" cy="2560320"/>
          </a:xfrm>
          <a:prstGeom prst="rect">
            <a:avLst/>
          </a:prstGeom>
          <a:solidFill>
            <a:srgbClr val="0B1F4B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280160"/>
            <a:ext cx="548640" cy="54864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97480" y="1920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697480" y="23591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97480" y="28529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dep_delay,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wind_speed, visibility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44568" y="23317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800600" y="1188720"/>
            <a:ext cx="1920240" cy="2560320"/>
          </a:xfrm>
          <a:prstGeom prst="rect">
            <a:avLst/>
          </a:prstGeom>
          <a:solidFill>
            <a:srgbClr val="0B1F4B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280160"/>
            <a:ext cx="548640" cy="54864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2040" y="1920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🚫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92040" y="23591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8529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delays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-60 or &gt; 600 min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39128" y="23317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95160" y="1188720"/>
            <a:ext cx="1920240" cy="2560320"/>
          </a:xfrm>
          <a:prstGeom prst="rect">
            <a:avLst/>
          </a:prstGeom>
          <a:solidFill>
            <a:srgbClr val="0B1F4B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80960" y="12801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6600" y="1920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086600" y="23591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86600" y="28529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3931920"/>
            <a:ext cx="8321040" cy="685800"/>
          </a:xfrm>
          <a:prstGeom prst="rect">
            <a:avLst/>
          </a:prstGeom>
          <a:solidFill>
            <a:srgbClr val="09142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400507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Median imputation is preferred over mean to reduce sensitivity to extreme outlier values in skewed delay data.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Domain-Specific Features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41148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53896"/>
            <a:ext cx="457200" cy="45720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53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4630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is_rush_hour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dep_hour in [7–9] or [16–19]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congestion periods cause airport bottlenecks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25880"/>
            <a:ext cx="4114800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453896"/>
            <a:ext cx="457200" cy="457200"/>
          </a:xfrm>
          <a:prstGeom prst="rect">
            <a:avLst/>
          </a:prstGeom>
          <a:solidFill>
            <a:srgbClr val="0096C7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453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14630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965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day_of_week in [6, 7]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240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travel demand patterns differ significantly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26080"/>
            <a:ext cx="4114800" cy="54864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054096"/>
            <a:ext cx="457200" cy="457200"/>
          </a:xfrm>
          <a:prstGeom prst="rect">
            <a:avLst/>
          </a:prstGeom>
          <a:solidFill>
            <a:srgbClr val="4A6FA5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❄️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0632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is_winter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3566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month in [12, 1, 2]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840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weather causes the most severe delays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26080"/>
            <a:ext cx="411480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1" name="Shape 29"/>
          <p:cNvSpPr/>
          <p:nvPr/>
        </p:nvSpPr>
        <p:spPr>
          <a:xfrm>
            <a:off x="4846320" y="3054096"/>
            <a:ext cx="457200" cy="457200"/>
          </a:xfrm>
          <a:prstGeom prst="rect">
            <a:avLst/>
          </a:prstGeom>
          <a:solidFill>
            <a:srgbClr val="FFB703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🌩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30632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weather_score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3566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wind×0.5 + (10–vis)×1.5 + precip×10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840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adverse weather indicator in one feature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5070348"/>
            <a:ext cx="32004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4023360"/>
            <a:ext cx="73152" cy="11201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B1F4B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ML Pipeline Architecture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5303520" cy="566928"/>
          </a:xfrm>
          <a:prstGeom prst="rect">
            <a:avLst/>
          </a:prstGeom>
          <a:solidFill>
            <a:srgbClr val="0B1F4B">
              <a:alpha val="9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" y="128016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12344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StringIndexer ×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14904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airline, origin, dest → numeric index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1783080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1892808"/>
            <a:ext cx="5303520" cy="566928"/>
          </a:xfrm>
          <a:prstGeom prst="rect">
            <a:avLst/>
          </a:prstGeom>
          <a:solidFill>
            <a:srgbClr val="0B1F4B">
              <a:alpha val="90000"/>
            </a:srgbClr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" y="1984248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8408" y="19385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×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219456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index → binary vector (dropLast=True)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2487168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596896"/>
            <a:ext cx="5303520" cy="566928"/>
          </a:xfrm>
          <a:prstGeom prst="rect">
            <a:avLst/>
          </a:prstGeom>
          <a:solidFill>
            <a:srgbClr val="0B1F4B">
              <a:alpha val="90000"/>
            </a:srgbClr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" y="2688336"/>
            <a:ext cx="384048" cy="384048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2688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26426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8408" y="289864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17 features into single vector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191256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300984"/>
            <a:ext cx="5303520" cy="566928"/>
          </a:xfrm>
          <a:prstGeom prst="rect">
            <a:avLst/>
          </a:prstGeom>
          <a:solidFill>
            <a:srgbClr val="0B1F4B">
              <a:alpha val="9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" y="3392424"/>
            <a:ext cx="384048" cy="38404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8408" y="334670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8408" y="360273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mean · Unit variance normalization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3895344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005072"/>
            <a:ext cx="5303520" cy="566928"/>
          </a:xfrm>
          <a:prstGeom prst="rect">
            <a:avLst/>
          </a:prstGeom>
          <a:solidFill>
            <a:srgbClr val="0B1F4B">
              <a:alpha val="90000"/>
            </a:srgbClr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" y="4096512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8408" y="40507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78408" y="430682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(L1+L2) · maxIter=100 · regParam=0.1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89320" y="1188720"/>
            <a:ext cx="2834640" cy="3246120"/>
          </a:xfrm>
          <a:prstGeom prst="rect">
            <a:avLst/>
          </a:prstGeom>
          <a:solidFill>
            <a:srgbClr val="0B1F4B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0" y="1280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16642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150608" y="16642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26480" y="19751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150608" y="1975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(L1+L2)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26480" y="2286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Split: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50608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26480" y="25968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Folds: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150608" y="25968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Cross Val.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126480" y="2907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Size: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150608" y="29077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param combos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126480" y="32186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150608" y="32186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total inputs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901952"/>
            <a:ext cx="1554480" cy="9144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019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4400" y="2496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 magnitude.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15-min airline threshold ✓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2801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94760" y="1901952"/>
            <a:ext cx="1554480" cy="914400"/>
          </a:xfrm>
          <a:prstGeom prst="ellipse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9019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~9.2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794760" y="2496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9260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median-like error measure.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consistent accuracy 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75120" y="1901952"/>
            <a:ext cx="1554480" cy="914400"/>
          </a:xfrm>
          <a:prstGeom prst="ellipse">
            <a:avLst/>
          </a:prstGeom>
          <a:solidFill>
            <a:srgbClr val="FFB703">
              <a:alpha val="12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9019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675120" y="2496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9260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Score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delay variance explained.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aviation data ✓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553712"/>
            <a:ext cx="8412480" cy="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Training R² ≈ Test R²  →  No significant overfitting detected. ElasticNet regularization performed as expected.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5070348"/>
            <a:ext cx="32004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4023360"/>
            <a:ext cx="73152" cy="11201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B1F4B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VISUALIZATIONS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Diagnostic Charts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4023360" cy="3200400"/>
          </a:xfrm>
          <a:prstGeom prst="rect">
            <a:avLst/>
          </a:prstGeom>
          <a:solidFill>
            <a:srgbClr val="0B1F4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R² = 0.88 → strong predictive power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0482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dep_delay is the #1 predictor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4963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🌩  weather_score is #2 predictor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9443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Winter months add significant delay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924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Rush hour adds measurable delay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Longer routes accumulate more delay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4160520" cy="694944"/>
          </a:xfrm>
          <a:prstGeom prst="rect">
            <a:avLst/>
          </a:prstGeom>
          <a:solidFill>
            <a:srgbClr val="0B1F4B">
              <a:alpha val="8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30368" y="11795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0368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colored by weather score — points along the diagonal = accurate predictions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929384"/>
            <a:ext cx="4160520" cy="694944"/>
          </a:xfrm>
          <a:prstGeom prst="rect">
            <a:avLst/>
          </a:prstGeom>
          <a:solidFill>
            <a:srgbClr val="0B1F4B">
              <a:alpha val="8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📉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30368" y="196596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Distribution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2037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Bell-curve centred at zero confirms no systematic model bias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715768"/>
            <a:ext cx="4160520" cy="694944"/>
          </a:xfrm>
          <a:prstGeom prst="rect">
            <a:avLst/>
          </a:prstGeom>
          <a:solidFill>
            <a:srgbClr val="0B1F4B">
              <a:alpha val="8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30368" y="27523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by Airline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29900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comparison of actual vs predicted per carrier (AA, DL, UA…)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502152"/>
            <a:ext cx="4160520" cy="694944"/>
          </a:xfrm>
          <a:prstGeom prst="rect">
            <a:avLst/>
          </a:prstGeom>
          <a:solidFill>
            <a:srgbClr val="0B1F4B">
              <a:alpha val="8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30368" y="35387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30368" y="37764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Top-15 coefficients — green = increases delay, red = reduces delay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5" name="Shape 3"/>
          <p:cNvSpPr/>
          <p:nvPr/>
        </p:nvSpPr>
        <p:spPr>
          <a:xfrm>
            <a:off x="5623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645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Successfully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93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PySpark ML pipeline built &amp; deployed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121408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03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+ ElasticNet achieves R² = 0.88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615184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968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for robust, unbiased performance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0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906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improved model 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602736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844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visualizations enable easy interpretation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274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685800"/>
            <a:ext cx="3017520" cy="932688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7772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🌲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8046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(GBT)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1755648"/>
            <a:ext cx="3017520" cy="932688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97880" y="184708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52160" y="2825496"/>
            <a:ext cx="3017520" cy="932688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97880" y="291693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46520" y="29443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52160" y="3895344"/>
            <a:ext cx="3017520" cy="932688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97880" y="398678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46520" y="401421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Cluster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EMR)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297680"/>
            <a:ext cx="5120640" cy="658368"/>
          </a:xfrm>
          <a:prstGeom prst="rect">
            <a:avLst/>
          </a:prstGeom>
          <a:solidFill>
            <a:srgbClr val="09142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35254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Welcome  ✈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902</Words>
  <Application>Microsoft Office PowerPoint</Application>
  <PresentationFormat>On-screen Show (16:9)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Delay Prediction</dc:title>
  <dc:subject>PptxGenJS Presentation</dc:subject>
  <dc:creator>Akash Kumar Jha</dc:creator>
  <cp:lastModifiedBy>Akash Jha</cp:lastModifiedBy>
  <cp:revision>2</cp:revision>
  <dcterms:created xsi:type="dcterms:W3CDTF">2026-04-09T11:14:08Z</dcterms:created>
  <dcterms:modified xsi:type="dcterms:W3CDTF">2026-04-09T16:30:43Z</dcterms:modified>
</cp:coreProperties>
</file>